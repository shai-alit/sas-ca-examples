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9" r:id="rId5"/>
    <p:sldId id="258" r:id="rId6"/>
    <p:sldId id="262" r:id="rId7"/>
    <p:sldId id="260" r:id="rId8"/>
    <p:sldId id="264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C8A6A-B43D-E17A-93DD-A507FB5EA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2DBB0-56D9-F79C-6D65-8A50D7FD1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1EEA3-09E7-6C83-AEEF-D69A3542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DAF2-D949-4660-9DA3-CB40949A2C8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E4EB9-1234-BEF9-7DC8-0D9362F74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37BB2-3501-E209-DE7B-96A49E7D9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A9800-932E-4153-B06C-46616D759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50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9F369-1EF6-D159-CD88-5AD133E9D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36DF2-458D-1734-DF5D-7E8D04889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EA1DB-5CD7-D4D2-858B-5007F94AB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DAF2-D949-4660-9DA3-CB40949A2C8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63CC7-93B7-661F-13ED-2C78A4DC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F95C-43B5-7134-7CFE-33FB66CDA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A9800-932E-4153-B06C-46616D759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129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9BBF1-ECD4-E446-D554-7739068C5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12F8F-3EAC-B9B8-B5D3-BE66A52B9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333D7-F47B-8B27-E064-ED9F206F0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DAF2-D949-4660-9DA3-CB40949A2C8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2F1B7-2FD8-20FD-DD2D-C4A53E7DA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F9D84-1FC4-81C2-A978-D536696FD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A9800-932E-4153-B06C-46616D759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167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48650-B8A0-A515-FD19-BC729A58D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0E957-8EF2-18A2-EEEF-0A23F6D03A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2ABB67-CD00-ABF3-6B8F-475217ACE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59BB5-1FEF-DADB-09EB-79D7E1275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DAF2-D949-4660-9DA3-CB40949A2C8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B7FDC-2D9C-1EDB-68DC-9953B162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77295-3439-4997-1D1A-5A0A1E2B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A9800-932E-4153-B06C-46616D759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75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E1346-6D66-E447-2536-458C074CD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4EA4B-E07C-4E2C-31E4-C70967D68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294251-7D3C-B67B-1BED-D084B818F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88D123-5B58-8A3F-517D-0F96F401D8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EE9E36-FB59-0F38-821E-141DE140F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C06BC3-AC85-0CC8-159B-413E5F3E9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DAF2-D949-4660-9DA3-CB40949A2C8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F15B46-70D3-0391-56F2-89E0181EE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1E7C2F-E578-1FF8-4757-E56DF1888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A9800-932E-4153-B06C-46616D759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25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91D-DAB7-3EDA-6505-42C632B7D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9F080-23FC-F03F-D643-8C20359D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DAF2-D949-4660-9DA3-CB40949A2C8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A35F8-E9A2-3048-52FA-3A8E3DE18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FF7C8F-2786-35B6-EFBD-9BD3908ED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A9800-932E-4153-B06C-46616D759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9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2C343F-21DE-F821-F8D7-80FCB026C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DAF2-D949-4660-9DA3-CB40949A2C8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E90E5B-FB7F-47F6-B9C9-4BCCF9773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23B51-C6CA-2FF7-ED52-2867D056A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A9800-932E-4153-B06C-46616D759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1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25AFB-D1C4-2560-3721-E9E2EA92C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CB88D-EA86-3F8D-0032-5FA84B573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4851A-E558-7795-19F6-CAB225E8C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FFBFE-F9F1-F0D1-66DF-8EEF24BD0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DAF2-D949-4660-9DA3-CB40949A2C8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BEC2C-1EBA-3860-528C-23B7874F8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7C720-4197-56F9-FDE7-4E32E1EF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A9800-932E-4153-B06C-46616D759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99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0AE77-515B-CCAC-0CDE-12572C1E1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E816B-430C-D309-7B54-207F350348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2959C-E99B-9BE7-B391-0AA09F090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B5AB5-34E6-C652-E9BD-6D1CE3D47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DAF2-D949-4660-9DA3-CB40949A2C8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99166-51C3-4BAB-5A41-B3852A501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1FE0D-8894-ECC9-49A4-FAE78A2FF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A9800-932E-4153-B06C-46616D759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91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C565-2EF9-E814-F487-8D31777D3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AA0C7-80F4-84F9-DA01-AE62D3565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E99C8-24DC-AD73-C9F4-4DC5B4892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DAF2-D949-4660-9DA3-CB40949A2C8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2584F-18CC-1F25-7D75-00A828D4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96834-92C2-6988-CFB8-FC5F9724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A9800-932E-4153-B06C-46616D759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15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B20191-557E-EDA4-A170-C1E464691D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20116-EEFF-E17B-3685-41DE11779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60B65-D1B8-F87F-2F07-19D2AA257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DAF2-D949-4660-9DA3-CB40949A2C8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BD774-5B45-FBB4-14C9-E43E7C76C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AD728-7FD0-88E9-0FE9-DB8A9059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A9800-932E-4153-B06C-46616D759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53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5DC33-7060-CDA2-F662-C0E2A72F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10BD0-F98E-907F-74DE-61B9AD76E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334B3-D98E-111A-D91B-36AD1D254C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CDAF2-D949-4660-9DA3-CB40949A2C8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B02A7-8143-8B3F-E859-8C88C0F8E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586ED-031F-70ED-94C0-677BC9B1A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A9800-932E-4153-B06C-46616D759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93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9867D-C0C1-9F2C-091A-4CD87ACD8F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Really quick </a:t>
            </a:r>
            <a:r>
              <a:rPr lang="en-US" dirty="0" err="1"/>
              <a:t>saspy</a:t>
            </a:r>
            <a:r>
              <a:rPr lang="en-US" dirty="0"/>
              <a:t> reference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3238C8-76FD-0280-849B-A0D29AC71C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3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ACEB0-E55A-BE6D-832A-0E29741CD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thing’s 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5A8C4-FE02-D5E3-2E2B-9549B4192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don’t need to configure anything in Viya other than enabling lockdown access</a:t>
            </a:r>
          </a:p>
          <a:p>
            <a:r>
              <a:rPr lang="en-US" dirty="0"/>
              <a:t>You will need the following information to connect to Viya</a:t>
            </a:r>
          </a:p>
          <a:p>
            <a:pPr lvl="1"/>
            <a:r>
              <a:rPr lang="en-US" dirty="0"/>
              <a:t>1) the Viya host URI. This does not include “https”</a:t>
            </a:r>
          </a:p>
          <a:p>
            <a:pPr lvl="2"/>
            <a:r>
              <a:rPr lang="en-US" dirty="0"/>
              <a:t>Ex: viya.unx.sas.com</a:t>
            </a:r>
          </a:p>
          <a:p>
            <a:pPr lvl="1"/>
            <a:r>
              <a:rPr lang="en-US" dirty="0"/>
              <a:t>2) the name of a valid Viya compute context</a:t>
            </a:r>
          </a:p>
          <a:p>
            <a:pPr lvl="2"/>
            <a:r>
              <a:rPr lang="en-US" dirty="0"/>
              <a:t>Ex: SAS Studio Compute Context</a:t>
            </a:r>
          </a:p>
          <a:p>
            <a:pPr lvl="1"/>
            <a:r>
              <a:rPr lang="en-US" dirty="0"/>
              <a:t>3) an auth token</a:t>
            </a:r>
          </a:p>
          <a:p>
            <a:pPr lvl="2"/>
            <a:r>
              <a:rPr lang="en-US" dirty="0"/>
              <a:t>Ex: a big long string of characters</a:t>
            </a:r>
          </a:p>
        </p:txBody>
      </p:sp>
    </p:spTree>
    <p:extLst>
      <p:ext uri="{BB962C8B-B14F-4D97-AF65-F5344CB8AC3E}">
        <p14:creationId xmlns:p14="http://schemas.microsoft.com/office/powerpoint/2010/main" val="2681764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99F3-712C-F6E7-1FFC-E43C23E69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custom 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DD8B9-B821-2CE0-8729-196A0BE2F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488"/>
            <a:ext cx="10515600" cy="4716475"/>
          </a:xfrm>
        </p:spPr>
        <p:txBody>
          <a:bodyPr>
            <a:normAutofit/>
          </a:bodyPr>
          <a:lstStyle/>
          <a:p>
            <a:r>
              <a:rPr lang="en-US" sz="2400" dirty="0"/>
              <a:t>The config is just a python file located anywhere your code has access to. It is NOT a config that comes with </a:t>
            </a:r>
            <a:r>
              <a:rPr lang="en-US" sz="2400" dirty="0" err="1"/>
              <a:t>saspy</a:t>
            </a:r>
            <a:r>
              <a:rPr lang="en-US" sz="2400" dirty="0"/>
              <a:t> or that is required by Viya</a:t>
            </a:r>
          </a:p>
          <a:p>
            <a:r>
              <a:rPr lang="en-US" sz="2400" dirty="0"/>
              <a:t>Place your config anywhere you want</a:t>
            </a:r>
          </a:p>
          <a:p>
            <a:pPr lvl="1"/>
            <a:r>
              <a:rPr lang="en-US" sz="2000" dirty="0"/>
              <a:t>1) include it in a place defined within the system path variable</a:t>
            </a:r>
          </a:p>
          <a:p>
            <a:pPr lvl="1"/>
            <a:r>
              <a:rPr lang="en-US" sz="2000" dirty="0"/>
              <a:t>2) just point directly to the file (use the ‘</a:t>
            </a:r>
            <a:r>
              <a:rPr lang="en-US" sz="2000" dirty="0" err="1"/>
              <a:t>cfgfile</a:t>
            </a:r>
            <a:r>
              <a:rPr lang="en-US" sz="2000" dirty="0"/>
              <a:t>’ parameter)</a:t>
            </a:r>
          </a:p>
          <a:p>
            <a:pPr lvl="1"/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54A6E8-6A23-073A-3F4E-6C76E8E3298E}"/>
              </a:ext>
            </a:extLst>
          </p:cNvPr>
          <p:cNvSpPr txBox="1"/>
          <p:nvPr/>
        </p:nvSpPr>
        <p:spPr>
          <a:xfrm>
            <a:off x="1493240" y="6350466"/>
            <a:ext cx="576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Ref: https://sassoftware.github.io/saspy/configuration.html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20BB23-2E3B-22FF-32FB-34AFF9CD1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436" y="4209970"/>
            <a:ext cx="8055831" cy="82342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8C63DD-8B8C-7AD1-1F6F-E103484510C5}"/>
              </a:ext>
            </a:extLst>
          </p:cNvPr>
          <p:cNvCxnSpPr/>
          <p:nvPr/>
        </p:nvCxnSpPr>
        <p:spPr>
          <a:xfrm>
            <a:off x="4160939" y="3814974"/>
            <a:ext cx="1266738" cy="5201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7BB9569-057F-95C1-791C-6021B616D367}"/>
              </a:ext>
            </a:extLst>
          </p:cNvPr>
          <p:cNvSpPr txBox="1"/>
          <p:nvPr/>
        </p:nvSpPr>
        <p:spPr>
          <a:xfrm>
            <a:off x="2927758" y="3556932"/>
            <a:ext cx="1823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Direct path to file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F86DA4-FD1F-C24A-BA4A-D5A6979FC406}"/>
              </a:ext>
            </a:extLst>
          </p:cNvPr>
          <p:cNvCxnSpPr>
            <a:cxnSpLocks/>
          </p:cNvCxnSpPr>
          <p:nvPr/>
        </p:nvCxnSpPr>
        <p:spPr>
          <a:xfrm flipV="1">
            <a:off x="2726421" y="4792660"/>
            <a:ext cx="2701256" cy="6048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157B713-3EA7-3156-A33A-074A9732226F}"/>
              </a:ext>
            </a:extLst>
          </p:cNvPr>
          <p:cNvSpPr txBox="1"/>
          <p:nvPr/>
        </p:nvSpPr>
        <p:spPr>
          <a:xfrm>
            <a:off x="1191237" y="5376907"/>
            <a:ext cx="6550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name of the config you want to use, which is defined in that file</a:t>
            </a:r>
          </a:p>
        </p:txBody>
      </p:sp>
    </p:spTree>
    <p:extLst>
      <p:ext uri="{BB962C8B-B14F-4D97-AF65-F5344CB8AC3E}">
        <p14:creationId xmlns:p14="http://schemas.microsoft.com/office/powerpoint/2010/main" val="2875912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7F14F-EE8E-A209-2CFA-952989101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the custom 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6D2AD-5463-F3E9-53A4-28D24A607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the config is actually just a python script, you can put whatever you want inside </a:t>
            </a:r>
          </a:p>
          <a:p>
            <a:r>
              <a:rPr lang="en-US" dirty="0"/>
              <a:t>The </a:t>
            </a:r>
            <a:r>
              <a:rPr lang="en-US" dirty="0" err="1"/>
              <a:t>SASsession</a:t>
            </a:r>
            <a:r>
              <a:rPr lang="en-US" dirty="0"/>
              <a:t> command runs the file as a python script</a:t>
            </a:r>
          </a:p>
          <a:p>
            <a:pPr lvl="1"/>
            <a:r>
              <a:rPr lang="en-US" dirty="0"/>
              <a:t>So you can put custom code as well as definitions</a:t>
            </a:r>
          </a:p>
          <a:p>
            <a:pPr lvl="1"/>
            <a:r>
              <a:rPr lang="en-US" dirty="0"/>
              <a:t>For example: I have code that pulls the </a:t>
            </a:r>
            <a:r>
              <a:rPr lang="en-US" dirty="0" err="1"/>
              <a:t>authtoken</a:t>
            </a:r>
            <a:r>
              <a:rPr lang="en-US" dirty="0"/>
              <a:t> from a secure file location that only I can access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35F5D3-33FF-D35E-F4EE-5CFF7F6E2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210306"/>
            <a:ext cx="4914900" cy="135255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ACA342F-91D1-01CF-7F53-1A1BF249234F}"/>
              </a:ext>
            </a:extLst>
          </p:cNvPr>
          <p:cNvCxnSpPr/>
          <p:nvPr/>
        </p:nvCxnSpPr>
        <p:spPr>
          <a:xfrm>
            <a:off x="4894931" y="4887141"/>
            <a:ext cx="1266738" cy="5201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BFD8F13-1123-C207-9589-3CFEFF37CDC8}"/>
              </a:ext>
            </a:extLst>
          </p:cNvPr>
          <p:cNvSpPr txBox="1"/>
          <p:nvPr/>
        </p:nvSpPr>
        <p:spPr>
          <a:xfrm>
            <a:off x="2553523" y="4563975"/>
            <a:ext cx="2822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Reads token from file (this could be an encrypted file)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BFC61E-61C2-BE71-9CA4-E4DC59768C82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4486362" y="5725742"/>
            <a:ext cx="1609638" cy="1608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F6F6783-71F0-8F62-69B9-CBAC3302CA0C}"/>
              </a:ext>
            </a:extLst>
          </p:cNvPr>
          <p:cNvSpPr txBox="1"/>
          <p:nvPr/>
        </p:nvSpPr>
        <p:spPr>
          <a:xfrm>
            <a:off x="445407" y="5280045"/>
            <a:ext cx="4691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Defines the valid </a:t>
            </a:r>
            <a:r>
              <a:rPr lang="en-US" dirty="0" err="1"/>
              <a:t>sas</a:t>
            </a:r>
            <a:r>
              <a:rPr lang="en-US" dirty="0"/>
              <a:t> config file names. This can be any name, but it must be defined as a dictionary in the same file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2AE491-762D-A968-28CC-C283E3B02A4B}"/>
              </a:ext>
            </a:extLst>
          </p:cNvPr>
          <p:cNvSpPr txBox="1"/>
          <p:nvPr/>
        </p:nvSpPr>
        <p:spPr>
          <a:xfrm>
            <a:off x="3514593" y="6198692"/>
            <a:ext cx="2822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Dictionary defining connection parameters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ECA568-6C34-07B4-D5C7-CB222D30A294}"/>
              </a:ext>
            </a:extLst>
          </p:cNvPr>
          <p:cNvCxnSpPr>
            <a:cxnSpLocks/>
          </p:cNvCxnSpPr>
          <p:nvPr/>
        </p:nvCxnSpPr>
        <p:spPr>
          <a:xfrm flipV="1">
            <a:off x="5469515" y="6109750"/>
            <a:ext cx="692154" cy="3099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BC26D49-F4FD-59F1-13ED-1125D56D5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462" y="4497253"/>
            <a:ext cx="2636838" cy="419100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15697920-6DEB-384A-72BB-6BFFC8629181}"/>
              </a:ext>
            </a:extLst>
          </p:cNvPr>
          <p:cNvSpPr/>
          <p:nvPr/>
        </p:nvSpPr>
        <p:spPr>
          <a:xfrm>
            <a:off x="7558762" y="4900198"/>
            <a:ext cx="484632" cy="2970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63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0120B-96CB-EAFA-C5A7-3DFE147F0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AEC3-2478-0DA6-B527-30DC4B41D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Easiest is to generate an access token</a:t>
            </a:r>
          </a:p>
          <a:p>
            <a:pPr lvl="1"/>
            <a:r>
              <a:rPr lang="en-US" dirty="0"/>
              <a:t>This requires admin access</a:t>
            </a:r>
          </a:p>
          <a:p>
            <a:pPr lvl="1"/>
            <a:r>
              <a:rPr lang="en-US" dirty="0"/>
              <a:t>Tokens should be one per individual user, although tokens can be shared and do not require any other info to be used so “with great power comes great responsibility…”</a:t>
            </a:r>
          </a:p>
          <a:p>
            <a:pPr lvl="1"/>
            <a:r>
              <a:rPr lang="en-US" dirty="0"/>
              <a:t>Does not require a .</a:t>
            </a:r>
            <a:r>
              <a:rPr lang="en-US" dirty="0" err="1"/>
              <a:t>pem</a:t>
            </a:r>
            <a:r>
              <a:rPr lang="en-US" dirty="0"/>
              <a:t> file</a:t>
            </a:r>
          </a:p>
          <a:p>
            <a:r>
              <a:rPr lang="en-US" dirty="0"/>
              <a:t>If SSO is configured, I don’t believe the user/</a:t>
            </a:r>
            <a:r>
              <a:rPr lang="en-US" dirty="0" err="1"/>
              <a:t>pwd</a:t>
            </a:r>
            <a:r>
              <a:rPr lang="en-US" dirty="0"/>
              <a:t> option works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4F22CA-B092-B5DC-C042-07FF1EDB5F36}"/>
              </a:ext>
            </a:extLst>
          </p:cNvPr>
          <p:cNvSpPr txBox="1"/>
          <p:nvPr/>
        </p:nvSpPr>
        <p:spPr>
          <a:xfrm>
            <a:off x="838200" y="6434356"/>
            <a:ext cx="8500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Ref: https://sassoftware.github.io/saspy/configuration.html#choosing-an-access-method</a:t>
            </a:r>
          </a:p>
        </p:txBody>
      </p:sp>
    </p:spTree>
    <p:extLst>
      <p:ext uri="{BB962C8B-B14F-4D97-AF65-F5344CB8AC3E}">
        <p14:creationId xmlns:p14="http://schemas.microsoft.com/office/powerpoint/2010/main" val="2660082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9B0A6-A9B5-7A3B-A743-DF050B9F0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– VPNs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6418F-0D19-A48A-B254-54E8799B0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your organization uses a VPN, then access to Viya requires that VPN and </a:t>
            </a:r>
            <a:r>
              <a:rPr lang="en-US" dirty="0" err="1"/>
              <a:t>saspy</a:t>
            </a:r>
            <a:r>
              <a:rPr lang="en-US" dirty="0"/>
              <a:t> will NOT work without the VPN active. </a:t>
            </a:r>
          </a:p>
          <a:p>
            <a:pPr lvl="1"/>
            <a:r>
              <a:rPr lang="en-US" dirty="0"/>
              <a:t>For using without VPN -&gt; Talk to Tech Support or SAS hosted admin</a:t>
            </a:r>
          </a:p>
          <a:p>
            <a:pPr lvl="2"/>
            <a:r>
              <a:rPr lang="en-US" dirty="0" err="1"/>
              <a:t>Ie</a:t>
            </a:r>
            <a:r>
              <a:rPr lang="en-US" dirty="0"/>
              <a:t>, connection from </a:t>
            </a:r>
            <a:r>
              <a:rPr lang="en-US" dirty="0" err="1"/>
              <a:t>databricks</a:t>
            </a:r>
            <a:r>
              <a:rPr lang="en-US" dirty="0"/>
              <a:t>. You probably need to add your </a:t>
            </a:r>
            <a:r>
              <a:rPr lang="en-US" dirty="0" err="1"/>
              <a:t>databricks</a:t>
            </a:r>
            <a:r>
              <a:rPr lang="en-US" dirty="0"/>
              <a:t> IP be allowed into your Viya environment. You may also need to configure your </a:t>
            </a:r>
            <a:r>
              <a:rPr lang="en-US" dirty="0" err="1"/>
              <a:t>databricks</a:t>
            </a:r>
            <a:r>
              <a:rPr lang="en-US" dirty="0"/>
              <a:t> environment to allow the Viya IP</a:t>
            </a:r>
          </a:p>
        </p:txBody>
      </p:sp>
    </p:spTree>
    <p:extLst>
      <p:ext uri="{BB962C8B-B14F-4D97-AF65-F5344CB8AC3E}">
        <p14:creationId xmlns:p14="http://schemas.microsoft.com/office/powerpoint/2010/main" val="1862201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2B79D-C4D0-B3DD-1317-0CA0D8C63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example – submit custom SAS code to Viya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E189C8-B71E-CE84-DA2B-972597F45F9F}"/>
              </a:ext>
            </a:extLst>
          </p:cNvPr>
          <p:cNvSpPr txBox="1"/>
          <p:nvPr/>
        </p:nvSpPr>
        <p:spPr>
          <a:xfrm>
            <a:off x="522514" y="2491273"/>
            <a:ext cx="521354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Description: </a:t>
            </a:r>
          </a:p>
          <a:p>
            <a:pPr marL="342900" indent="-342900">
              <a:buAutoNum type="arabicParenR"/>
            </a:pPr>
            <a:r>
              <a:rPr lang="en-US" dirty="0"/>
              <a:t>Create the </a:t>
            </a:r>
            <a:r>
              <a:rPr lang="en-US" dirty="0" err="1"/>
              <a:t>SASsession</a:t>
            </a:r>
            <a:r>
              <a:rPr lang="en-US" dirty="0"/>
              <a:t> using the custom config file</a:t>
            </a:r>
          </a:p>
          <a:p>
            <a:pPr marL="342900" indent="-342900">
              <a:buAutoNum type="arabicParenR"/>
            </a:pPr>
            <a:r>
              <a:rPr lang="en-US" dirty="0"/>
              <a:t>Start a timer</a:t>
            </a:r>
          </a:p>
          <a:p>
            <a:pPr marL="342900" indent="-342900">
              <a:buAutoNum type="arabicParenR"/>
            </a:pPr>
            <a:r>
              <a:rPr lang="en-US" dirty="0"/>
              <a:t>Submit Proc means on </a:t>
            </a:r>
            <a:r>
              <a:rPr lang="en-US" dirty="0" err="1"/>
              <a:t>sashelp.cars</a:t>
            </a:r>
            <a:r>
              <a:rPr lang="en-US" dirty="0"/>
              <a:t> dataset</a:t>
            </a:r>
          </a:p>
          <a:p>
            <a:pPr marL="342900" indent="-342900">
              <a:buAutoNum type="arabicParenR"/>
            </a:pPr>
            <a:r>
              <a:rPr lang="en-US" dirty="0"/>
              <a:t>Stop the timer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B1091E0-1405-6FAE-DA14-BAFB6888AE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240237"/>
            <a:ext cx="5391150" cy="2857500"/>
          </a:xfr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C377FA4C-AA02-F404-1E73-E9172C825786}"/>
              </a:ext>
            </a:extLst>
          </p:cNvPr>
          <p:cNvSpPr/>
          <p:nvPr/>
        </p:nvSpPr>
        <p:spPr>
          <a:xfrm>
            <a:off x="5852720" y="2877424"/>
            <a:ext cx="243280" cy="2432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05ADEDA-2D2D-ABAB-6428-CA06BC642797}"/>
              </a:ext>
            </a:extLst>
          </p:cNvPr>
          <p:cNvSpPr/>
          <p:nvPr/>
        </p:nvSpPr>
        <p:spPr>
          <a:xfrm>
            <a:off x="5852720" y="3429000"/>
            <a:ext cx="243280" cy="2432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68F047D-DFAA-2818-D7DF-DAE795FC07D4}"/>
              </a:ext>
            </a:extLst>
          </p:cNvPr>
          <p:cNvSpPr/>
          <p:nvPr/>
        </p:nvSpPr>
        <p:spPr>
          <a:xfrm>
            <a:off x="5852720" y="3858935"/>
            <a:ext cx="243280" cy="2432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4C15B7A-3DDA-4B9D-13C3-ADE733B3FD2A}"/>
              </a:ext>
            </a:extLst>
          </p:cNvPr>
          <p:cNvSpPr/>
          <p:nvPr/>
        </p:nvSpPr>
        <p:spPr>
          <a:xfrm>
            <a:off x="5852720" y="4651765"/>
            <a:ext cx="243280" cy="2432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6545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395D0-1766-ACD7-01F1-266890AC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 SAS code from .</a:t>
            </a:r>
            <a:r>
              <a:rPr lang="en-US" dirty="0" err="1"/>
              <a:t>sas</a:t>
            </a:r>
            <a:r>
              <a:rPr lang="en-US" dirty="0"/>
              <a:t> code file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8D8952-9DF5-9153-1F49-CE1C84056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7349" y="2628900"/>
            <a:ext cx="3295650" cy="16002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DB08A9-15D3-062E-4511-1DF9122973D6}"/>
              </a:ext>
            </a:extLst>
          </p:cNvPr>
          <p:cNvSpPr txBox="1"/>
          <p:nvPr/>
        </p:nvSpPr>
        <p:spPr>
          <a:xfrm>
            <a:off x="2254409" y="2637559"/>
            <a:ext cx="2822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 the </a:t>
            </a:r>
            <a:r>
              <a:rPr lang="en-US" dirty="0" err="1"/>
              <a:t>sas</a:t>
            </a:r>
            <a:r>
              <a:rPr lang="en-US" dirty="0"/>
              <a:t> code file as ascii text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66D0B8-FDCC-6AF8-3722-567AE21DA923}"/>
              </a:ext>
            </a:extLst>
          </p:cNvPr>
          <p:cNvCxnSpPr>
            <a:cxnSpLocks/>
          </p:cNvCxnSpPr>
          <p:nvPr/>
        </p:nvCxnSpPr>
        <p:spPr>
          <a:xfrm>
            <a:off x="3612723" y="3098010"/>
            <a:ext cx="146462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BFFC8C9-FB5A-273A-D0E2-08B94CA890BC}"/>
              </a:ext>
            </a:extLst>
          </p:cNvPr>
          <p:cNvSpPr txBox="1"/>
          <p:nvPr/>
        </p:nvSpPr>
        <p:spPr>
          <a:xfrm>
            <a:off x="1903445" y="5822302"/>
            <a:ext cx="8242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there’s probably a better way to do this, but this is an easy and very flexible way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8C9431-7D2A-BFB9-3AF4-E9523C04536B}"/>
              </a:ext>
            </a:extLst>
          </p:cNvPr>
          <p:cNvSpPr txBox="1"/>
          <p:nvPr/>
        </p:nvSpPr>
        <p:spPr>
          <a:xfrm>
            <a:off x="2034074" y="4342284"/>
            <a:ext cx="2822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Directly submit the code you just read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DB8BD14-7371-A5AD-C88A-199A60602816}"/>
              </a:ext>
            </a:extLst>
          </p:cNvPr>
          <p:cNvCxnSpPr>
            <a:cxnSpLocks/>
          </p:cNvCxnSpPr>
          <p:nvPr/>
        </p:nvCxnSpPr>
        <p:spPr>
          <a:xfrm flipV="1">
            <a:off x="3261759" y="3582955"/>
            <a:ext cx="1815590" cy="7834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804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46BEC-250F-4243-AFBF-0884D37FA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2A385-5F70-EC89-3E74-27C7815C1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saspy</a:t>
            </a:r>
            <a:r>
              <a:rPr lang="en-US" dirty="0"/>
              <a:t> “costs” time</a:t>
            </a:r>
          </a:p>
          <a:p>
            <a:pPr lvl="1"/>
            <a:r>
              <a:rPr lang="en-US" dirty="0"/>
              <a:t>1) it takes about 10-15 seconds to make the connection and start up the compute context.</a:t>
            </a:r>
          </a:p>
          <a:p>
            <a:pPr lvl="2"/>
            <a:r>
              <a:rPr lang="en-US" dirty="0"/>
              <a:t>You pay this time “fee” once every time you create a </a:t>
            </a:r>
            <a:r>
              <a:rPr lang="en-US" dirty="0" err="1"/>
              <a:t>SASsession</a:t>
            </a:r>
            <a:endParaRPr lang="en-US" dirty="0"/>
          </a:p>
          <a:p>
            <a:pPr lvl="1"/>
            <a:r>
              <a:rPr lang="en-US" dirty="0"/>
              <a:t>2) it takes time to submit the code and get the response, depending on your internet connection speeds, the code run, size of code, </a:t>
            </a:r>
            <a:r>
              <a:rPr lang="en-US" dirty="0" err="1"/>
              <a:t>etc</a:t>
            </a:r>
            <a:endParaRPr lang="en-US" dirty="0"/>
          </a:p>
          <a:p>
            <a:pPr lvl="2"/>
            <a:r>
              <a:rPr lang="en-US" dirty="0"/>
              <a:t>You pay this time “fee” every time you submit code</a:t>
            </a:r>
          </a:p>
          <a:p>
            <a:pPr lvl="1"/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3ECDF86-3DD2-681A-2BAA-977FD1EBD4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358549"/>
              </p:ext>
            </p:extLst>
          </p:nvPr>
        </p:nvGraphicFramePr>
        <p:xfrm>
          <a:off x="1503494" y="4746382"/>
          <a:ext cx="8127999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7750178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26367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630109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saspy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Viya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705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Proc means data=</a:t>
                      </a:r>
                      <a:r>
                        <a:rPr lang="en-US" dirty="0" err="1"/>
                        <a:t>sashelp.cars</a:t>
                      </a:r>
                      <a:r>
                        <a:rPr lang="en-US" dirty="0"/>
                        <a:t>; run;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310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5428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63c7f06-7cb3-4753-bb68-887d8c87c3f7}" enabled="1" method="Privileged" siteId="{b1c14d5c-3625-45b3-a430-9552373a0c2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622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Really quick saspy reference</vt:lpstr>
      <vt:lpstr>First thing’s first</vt:lpstr>
      <vt:lpstr>Using custom config</vt:lpstr>
      <vt:lpstr>Setting up the custom config</vt:lpstr>
      <vt:lpstr>authentication</vt:lpstr>
      <vt:lpstr>Connection – VPNs</vt:lpstr>
      <vt:lpstr>Quick example – submit custom SAS code to Viya</vt:lpstr>
      <vt:lpstr>Submit SAS code from .sas code file</vt:lpstr>
      <vt:lpstr>Performance considerations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Sean Ford</dc:creator>
  <cp:lastModifiedBy>Sean Ford</cp:lastModifiedBy>
  <cp:revision>13</cp:revision>
  <dcterms:created xsi:type="dcterms:W3CDTF">2024-05-31T11:13:26Z</dcterms:created>
  <dcterms:modified xsi:type="dcterms:W3CDTF">2026-05-20T00:48:31Z</dcterms:modified>
</cp:coreProperties>
</file>